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[BÁO CÁO TIỂU LUẬN CUỐI KỲ]</a:t>
            </a:r>
            <a:br/>
            <a:r>
              <a:rPr sz="1100">
                <a:latin typeface="Calibri"/>
              </a:rPr>
              <a:t>GIỚI THIỆU NGÀNH CÔNG NGHỆ THÔNG TIN</a:t>
            </a:r>
            <a:br/>
            <a:r>
              <a:rPr sz="1100">
                <a:latin typeface="Calibri"/>
              </a:rPr>
              <a:t>- • Nguyễn Tùng Anh (26730006) Nhóm trưởng - Phân công, theo dõi tiến độ, tổng hợp nội dung</a:t>
            </a:r>
            <a:br/>
            <a:r>
              <a:rPr sz="1100">
                <a:latin typeface="Calibri"/>
              </a:rPr>
              <a:t>- • Trần Minh Lợi (26730044) Báo cáo nội dung</a:t>
            </a:r>
            <a:br/>
            <a:r>
              <a:rPr sz="1100">
                <a:latin typeface="Calibri"/>
              </a:rPr>
              <a:t>- • Nguyễn Hồ Dương Phú (26730055) Cắt ghép video</a:t>
            </a:r>
            <a:br/>
            <a:r>
              <a:rPr sz="1100">
                <a:latin typeface="Calibri"/>
              </a:rPr>
              <a:t>Giảng viên hướng dẫn:</a:t>
            </a:r>
            <a:br/>
            <a:r>
              <a:rPr sz="1100">
                <a:latin typeface="Calibri"/>
              </a:rPr>
              <a:t>Th.S. Nguyễn Thị Thuỳ Trâm</a:t>
            </a:r>
            <a:br/>
            <a:r>
              <a:rPr sz="1100">
                <a:latin typeface="Calibri"/>
              </a:rPr>
              <a:t>Trường Đại học Công nghệ Thông tin – ĐHQG-HCM</a:t>
            </a:r>
            <a:br/>
            <a:r>
              <a:rPr sz="1100">
                <a:latin typeface="Calibri"/>
              </a:rPr>
              <a:t>Thành viên nhóm thực hiện:</a:t>
            </a:r>
            <a:br/>
            <a:r>
              <a:rPr sz="1100">
                <a:latin typeface="Calibri"/>
              </a:rPr>
              <a:t>Nhiệm vụ chính:</a:t>
            </a:r>
            <a:br/>
            <a:r>
              <a:rPr sz="1100">
                <a:latin typeface="Calibri"/>
              </a:rPr>
              <a:t>Tài liệu &amp; Ý tưởng:</a:t>
            </a:r>
            <a:br/>
            <a:r>
              <a:rPr sz="1100">
                <a:latin typeface="Calibri"/>
              </a:rPr>
              <a:t>--- UIT - ĐHQG-HCM SLIDE 01 ---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[Tổng quan bài báo cáo]</a:t>
            </a:r>
            <a:br/>
            <a:r>
              <a:rPr sz="1100">
                <a:latin typeface="Calibri"/>
              </a:rPr>
              <a:t>MỤC LỤC NỘI DUNG</a:t>
            </a:r>
            <a:br/>
            <a:r>
              <a:rPr sz="1100">
                <a:latin typeface="Calibri"/>
              </a:rPr>
              <a:t>--- UIT - ĐHQG-HCM SLIDE 02 ---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[01. GIỚI THIỆU CHUNG]</a:t>
            </a:r>
            <a:br/>
            <a:r>
              <a:rPr sz="1100">
                <a:latin typeface="Calibri"/>
              </a:rPr>
              <a:t>NGÀNH CÔNG NGHỆ THÔNG TIN</a:t>
            </a:r>
            <a:br/>
            <a:r>
              <a:rPr sz="1100">
                <a:latin typeface="Calibri"/>
              </a:rPr>
              <a:t>Định nghĩa học thuật:</a:t>
            </a:r>
            <a:br/>
            <a:r>
              <a:rPr sz="1100">
                <a:latin typeface="Calibri"/>
              </a:rPr>
              <a:t>Công nghệ Thông tin (IT) là ngành nghiên cứu, phát triển, quản lý hệ thống phần cứng, phần mềm, mạng máy tính và cơ sở dữ liệu nhằm xử lý, lưu trữ, truyền tải thông tin hiệu quả.</a:t>
            </a:r>
            <a:br/>
            <a:r>
              <a:rPr sz="1100">
                <a:latin typeface="Calibri"/>
              </a:rPr>
              <a:t>Các lĩnh vực cốt lõi:</a:t>
            </a:r>
            <a:br/>
            <a:r>
              <a:rPr sz="1100">
                <a:latin typeface="Calibri"/>
              </a:rPr>
              <a:t>--- UIT - ĐHQG-HCM SLIDE 03 ---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[02. VAI TRÒ TRONG HỌC TẬP]</a:t>
            </a:r>
            <a:br/>
            <a:r>
              <a:rPr sz="1100">
                <a:latin typeface="Calibri"/>
              </a:rPr>
              <a:t>CÔNG CỤ HỖ TRỢ HIỆU QUẢ CỰC ĐẠI</a:t>
            </a:r>
            <a:br/>
            <a:r>
              <a:rPr sz="1100">
                <a:latin typeface="Calibri"/>
              </a:rPr>
              <a:t>- Kết nối kho tàng kiến thức toàn cầu qua Internet chỉ với vài click.</a:t>
            </a:r>
            <a:br/>
            <a:r>
              <a:rPr sz="1100">
                <a:latin typeface="Calibri"/>
              </a:rPr>
              <a:t>- Học tập không biên giới trên Coursera, edX, Udemy, YouTube .</a:t>
            </a:r>
            <a:br/>
            <a:r>
              <a:rPr sz="1100">
                <a:latin typeface="Calibri"/>
              </a:rPr>
              <a:t>- Sử dụng Generative AI (ChatGPT, Claude, Gemini) hỗ trợ dịch thuật, giải thích mã nguồn và thuật toán 24/7.</a:t>
            </a:r>
            <a:br/>
            <a:r>
              <a:rPr sz="1100">
                <a:latin typeface="Calibri"/>
              </a:rPr>
              <a:t>- Lưu trữ mây dữ liệu an toàn trên Google Drive, OneDrive .</a:t>
            </a:r>
            <a:br/>
            <a:r>
              <a:rPr sz="1100">
                <a:latin typeface="Calibri"/>
              </a:rPr>
              <a:t>- Cộng tác nhóm trực quan qua Notion, Trello, Google Workspace .</a:t>
            </a:r>
            <a:br/>
            <a:r>
              <a:rPr sz="1100">
                <a:latin typeface="Calibri"/>
              </a:rPr>
              <a:t>Truy cập &amp; Tự học:</a:t>
            </a:r>
            <a:br/>
            <a:r>
              <a:rPr sz="1100">
                <a:latin typeface="Calibri"/>
              </a:rPr>
              <a:t>Quản trị &amp; Cộng tác học tập:</a:t>
            </a:r>
            <a:br/>
            <a:r>
              <a:rPr sz="1100">
                <a:latin typeface="Calibri"/>
              </a:rPr>
              <a:t>--- UIT - ĐHQG-HCM SLIDE 04 ---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[02. VAI TRÒ TRONG HỌC TẬP]</a:t>
            </a:r>
            <a:br/>
            <a:r>
              <a:rPr sz="1100">
                <a:latin typeface="Calibri"/>
              </a:rPr>
              <a:t>PHÁT TRIỂN TƯ DUY &amp; PHƯƠNG PHÁP HỌC</a:t>
            </a:r>
            <a:br/>
            <a:r>
              <a:rPr sz="1100">
                <a:latin typeface="Calibri"/>
              </a:rPr>
              <a:t>- Tư duy logic cao độ thông qua xây dựng cấu trúc dữ liệu và giải thuật.</a:t>
            </a:r>
            <a:br/>
            <a:r>
              <a:rPr sz="1100">
                <a:latin typeface="Calibri"/>
              </a:rPr>
              <a:t>- Tư duy hệ thống khi phân tích kiến trúc phần mềm phức tạp.</a:t>
            </a:r>
            <a:br/>
            <a:r>
              <a:rPr sz="1100">
                <a:latin typeface="Calibri"/>
              </a:rPr>
              <a:t>- Kỹ năng giải quyết vấn đề (problem-solving) qua quy trình debug và tối ưu hóa code liên tục.</a:t>
            </a:r>
            <a:br/>
            <a:r>
              <a:rPr sz="1100">
                <a:latin typeface="Calibri"/>
              </a:rPr>
              <a:t>- "Code is like humor. When you have to explain it, it’s bad." – Cory House</a:t>
            </a:r>
            <a:br/>
            <a:r>
              <a:rPr sz="1100">
                <a:latin typeface="Calibri"/>
              </a:rPr>
              <a:t>"Code is like humor. When you have to explain it, it’s bad."</a:t>
            </a:r>
            <a:br/>
            <a:r>
              <a:rPr sz="1100">
                <a:latin typeface="Calibri"/>
              </a:rPr>
              <a:t>– Cory House</a:t>
            </a:r>
            <a:br/>
            <a:r>
              <a:rPr sz="1100">
                <a:latin typeface="Calibri"/>
              </a:rPr>
              <a:t>--- UIT - ĐHQG-HCM SLIDE 05 ---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[03. ỨNG DỤNG TRONG CÔNG VIỆC]</a:t>
            </a:r>
            <a:br/>
            <a:r>
              <a:rPr sz="1100">
                <a:latin typeface="Calibri"/>
              </a:rPr>
              <a:t>CNTT TRONG MỌI NGÀNH NGHỀ HIỆN ĐẠI</a:t>
            </a:r>
            <a:br/>
            <a:r>
              <a:rPr sz="1100">
                <a:latin typeface="Calibri"/>
              </a:rPr>
              <a:t>🩺 Y TẾ THÔNG MINH</a:t>
            </a:r>
            <a:br/>
            <a:r>
              <a:rPr sz="1100">
                <a:latin typeface="Calibri"/>
              </a:rPr>
              <a:t>Bệnh án điện tử, chẩn đoán bệnh hỗ trợ bởi AI, y tế từ xa (Telemedicine).</a:t>
            </a:r>
            <a:br/>
            <a:r>
              <a:rPr sz="1100">
                <a:latin typeface="Calibri"/>
              </a:rPr>
              <a:t>🎓 GIÁO DỤC 4.0</a:t>
            </a:r>
            <a:br/>
            <a:r>
              <a:rPr sz="1100">
                <a:latin typeface="Calibri"/>
              </a:rPr>
              <a:t>Hệ thống LMS, đào tạo trực tuyến toàn cầu, lớp học ảo tương tác VR/AR.</a:t>
            </a:r>
            <a:br/>
            <a:r>
              <a:rPr sz="1100">
                <a:latin typeface="Calibri"/>
              </a:rPr>
              <a:t>💰 TÀI CHÍNH - FINTECH</a:t>
            </a:r>
            <a:br/>
            <a:r>
              <a:rPr sz="1100">
                <a:latin typeface="Calibri"/>
              </a:rPr>
              <a:t>Blockchain, giao dịch thuật toán tự động, ví điện tử thông minh bảo mật.</a:t>
            </a:r>
            <a:br/>
            <a:r>
              <a:rPr sz="1100">
                <a:latin typeface="Calibri"/>
              </a:rPr>
              <a:t>🏭 SẢN XUẤT TỰ ĐỘNG</a:t>
            </a:r>
            <a:br/>
            <a:r>
              <a:rPr sz="1100">
                <a:latin typeface="Calibri"/>
              </a:rPr>
              <a:t>IoT công nghiệp, robot tự động hóa, quản lý chuỗi cung ứng thông minh.</a:t>
            </a:r>
            <a:br/>
            <a:r>
              <a:rPr sz="1100">
                <a:latin typeface="Calibri"/>
              </a:rPr>
              <a:t>THỰC TẾ: Không còn ngành nghề nào hoạt động hiệu quả mà không phụ thuộc vào CNTT.</a:t>
            </a:r>
            <a:br/>
            <a:r>
              <a:rPr sz="1100">
                <a:latin typeface="Calibri"/>
              </a:rPr>
              <a:t>--- UIT - ĐHQG-HCM SLIDE 06 ---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[03. ỨNG DỤNG TRONG CÔNG VIỆC]</a:t>
            </a:r>
            <a:br/>
            <a:r>
              <a:rPr sz="1100">
                <a:latin typeface="Calibri"/>
              </a:rPr>
              <a:t>ĐẶC THÙ CÔNG VIỆC KỸ SƯ PHẦN MỀM</a:t>
            </a:r>
            <a:br/>
            <a:r>
              <a:rPr sz="1100">
                <a:latin typeface="Calibri"/>
              </a:rPr>
              <a:t>- Thiết kế giải pháp, viết code sạch, kiểm thử, debug, tối ưu hệ thống.</a:t>
            </a:r>
            <a:br/>
            <a:r>
              <a:rPr sz="1100">
                <a:latin typeface="Calibri"/>
              </a:rPr>
              <a:t>- Cộng tác nhóm công nghệ thông qua hệ thống quản lý mã nguồn Git, GitHub, GitLab .</a:t>
            </a:r>
            <a:br/>
            <a:r>
              <a:rPr sz="1100">
                <a:latin typeface="Calibri"/>
              </a:rPr>
              <a:t>- Giao tiếp với khách hàng hoặc các nhóm nghiệp vụ (Business) để làm rõ yêu cầu phần mềm.</a:t>
            </a:r>
            <a:br/>
            <a:r>
              <a:rPr sz="1100">
                <a:latin typeface="Calibri"/>
              </a:rPr>
              <a:t>- Xây dựng giải pháp kỹ thuật số giải quyết các bài toán lớn của xã hội.</a:t>
            </a:r>
            <a:br/>
            <a:r>
              <a:rPr sz="1100">
                <a:latin typeface="Calibri"/>
              </a:rPr>
              <a:t>- Đảm bảo an toàn thông tin, bảo mật dữ liệu cho người dùng.</a:t>
            </a:r>
            <a:br/>
            <a:r>
              <a:rPr sz="1100">
                <a:latin typeface="Calibri"/>
              </a:rPr>
              <a:t>Hành động hằng ngày:</a:t>
            </a:r>
            <a:br/>
            <a:r>
              <a:rPr sz="1100">
                <a:latin typeface="Calibri"/>
              </a:rPr>
              <a:t>Giá trị cốt lõi mang lại:</a:t>
            </a:r>
            <a:br/>
            <a:r>
              <a:rPr sz="1100">
                <a:latin typeface="Calibri"/>
              </a:rPr>
              <a:t>--- UIT - ĐHQG-HCM SLIDE 07 ---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[04. LÀN SÓNG AI &amp; CNTT]</a:t>
            </a:r>
            <a:br/>
            <a:r>
              <a:rPr sz="1100">
                <a:latin typeface="Calibri"/>
              </a:rPr>
              <a:t>BỐI CẢNH BÙNG NỔ TRÍ TUỆ NHÂN TẠO</a:t>
            </a:r>
            <a:br/>
            <a:r>
              <a:rPr sz="1100">
                <a:latin typeface="Calibri"/>
              </a:rPr>
              <a:t>- Generative AI (2022-Nay): ChatGPT, Claude, Gemini tái cấu trúc cách con người làm việc và code.</a:t>
            </a:r>
            <a:br/>
            <a:r>
              <a:rPr sz="1100">
                <a:latin typeface="Calibri"/>
              </a:rPr>
              <a:t>- Đầu tư công nghệ dịch chuyển: Các ông lớn Big Tech (Microsoft, Google, Meta) rót hàng tỷ USD vào AI lõi.</a:t>
            </a:r>
            <a:br/>
            <a:r>
              <a:rPr sz="1100">
                <a:latin typeface="Calibri"/>
              </a:rPr>
              <a:t>- Thách thức mới cho nhân lực: Sự chuyển dịch mạnh sang Big Data, Generative AI yêu cầu kỹ sư nắm bắt kỹ năng Prompt Engineering, MLOps, Data Pipeline .</a:t>
            </a:r>
            <a:br/>
            <a:r>
              <a:rPr sz="1100">
                <a:latin typeface="Calibri"/>
              </a:rPr>
              <a:t>Đòi hỏi kỹ sư CNTT phải học hỏi và tự đổi mới liên tục.</a:t>
            </a:r>
            <a:br/>
            <a:r>
              <a:rPr sz="1100">
                <a:latin typeface="Calibri"/>
              </a:rPr>
              <a:t>--- UIT - ĐHQG-HCM SLIDE 08 ---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[05. CƠ HỘI VIỆC LÀM]</a:t>
            </a:r>
            <a:br/>
            <a:r>
              <a:rPr sz="1100">
                <a:latin typeface="Calibri"/>
              </a:rPr>
              <a:t>CƠ HỘI VIỆC LÀM LUÔN RỘNG MỞ!</a:t>
            </a:r>
            <a:br/>
            <a:r>
              <a:rPr sz="1100">
                <a:latin typeface="Calibri"/>
              </a:rPr>
              <a:t>1. Nhu cầu nhân lực CNTT toàn cầu cực kỳ lớn</a:t>
            </a:r>
            <a:br/>
            <a:r>
              <a:rPr sz="1100">
                <a:latin typeface="Calibri"/>
              </a:rPr>
              <a:t>Gartner dự báo thiếu hụt 85 triệu nhân sự IT chất lượng cao vào 2030.</a:t>
            </a:r>
            <a:br/>
            <a:r>
              <a:rPr sz="1100">
                <a:latin typeface="Calibri"/>
              </a:rPr>
              <a:t>2. Không giới hạn biên giới (Remote &amp; Global)</a:t>
            </a:r>
            <a:br/>
            <a:r>
              <a:rPr sz="1100">
                <a:latin typeface="Calibri"/>
              </a:rPr>
              <a:t>Khả năng làm việc từ xa, Freelancer cho doanh nghiệp đa quốc gia với mức lương toàn cầu.</a:t>
            </a:r>
            <a:br/>
            <a:r>
              <a:rPr sz="1100">
                <a:latin typeface="Calibri"/>
              </a:rPr>
              <a:t>3. Xuất hiện hàng loạt ngành học &amp; định hướng mới</a:t>
            </a:r>
            <a:br/>
            <a:r>
              <a:rPr sz="1100">
                <a:latin typeface="Calibri"/>
              </a:rPr>
              <a:t>Sự lên ngôi của AI Engineer, Data Scientist, Cybersecurity Specialist, Cloud Architect...</a:t>
            </a:r>
            <a:br/>
            <a:r>
              <a:rPr sz="1100">
                <a:latin typeface="Calibri"/>
              </a:rPr>
              <a:t>--- UIT - ĐHQG-HCM SLIDE 09 ---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[05. CƠ HỘI VIỆC LÀM]</a:t>
            </a:r>
            <a:br/>
            <a:r>
              <a:rPr sz="1100">
                <a:latin typeface="Calibri"/>
              </a:rPr>
              <a:t>THÔNG SỐ THỊ TRƯỜNG LAO ĐỘNG IT</a:t>
            </a:r>
            <a:br/>
            <a:r>
              <a:rPr sz="1100">
                <a:latin typeface="Calibri"/>
              </a:rPr>
              <a:t>- AI Engineer: Nhu cầu tuyển dụng thực tế tăng vọt 300% trong 2 năm qua.</a:t>
            </a:r>
            <a:br/>
            <a:r>
              <a:rPr sz="1100">
                <a:latin typeface="Calibri"/>
              </a:rPr>
              <a:t>- DevOps &amp; Cloud Computing: Luôn nằm trong Top 5 vị trí khó tuyển dụng nhất của các tập đoàn lớn.</a:t>
            </a:r>
            <a:br/>
            <a:r>
              <a:rPr sz="1100">
                <a:latin typeface="Calibri"/>
              </a:rPr>
              <a:t>- Cybersecurity: Tình trạng thiếu hụt nhân lực khẩn cấp diễn ra trên phạm vi toàn cầu.</a:t>
            </a:r>
            <a:br/>
            <a:r>
              <a:rPr sz="1100">
                <a:latin typeface="Calibri"/>
              </a:rPr>
              <a:t>Xu hướng tăng trưởng nổi bật (2024-2025):</a:t>
            </a:r>
            <a:br/>
            <a:r>
              <a:rPr sz="1100">
                <a:latin typeface="Calibri"/>
              </a:rPr>
              <a:t>--- UIT - ĐHQG-HCM SLIDE 10 ---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[06. THỰC TRẠNG ĐÀO TẠO]</a:t>
            </a:r>
            <a:br/>
            <a:r>
              <a:rPr sz="1100">
                <a:latin typeface="Calibri"/>
              </a:rPr>
              <a:t>KHOẢNG CÁCH (GAP) TRONG ĐÀO TẠO</a:t>
            </a:r>
            <a:br/>
            <a:r>
              <a:rPr sz="1100">
                <a:latin typeface="Calibri"/>
              </a:rPr>
              <a:t>Giáo trình truyền thống:</a:t>
            </a:r>
            <a:br/>
            <a:r>
              <a:rPr sz="1100">
                <a:latin typeface="Calibri"/>
              </a:rPr>
              <a:t>Chu kỳ cập nhật từ 3-5 năm. Nặng về lý thuyết cơ bản, thiếu sự tiếp cận trực tiếp với các quy trình công nghiệp thực tế.</a:t>
            </a:r>
            <a:br/>
            <a:r>
              <a:rPr sz="1100">
                <a:latin typeface="Calibri"/>
              </a:rPr>
              <a:t>Thực tế công nghệ AI:</a:t>
            </a:r>
            <a:br/>
            <a:r>
              <a:rPr sz="1100">
                <a:latin typeface="Calibri"/>
              </a:rPr>
              <a:t>Thay đổi liên tục theo từng tuần. Đòi hỏi kỹ năng thực chiến ngay lập tức như MLOps, xử lý dữ liệu lớn, Prompt Engineering...</a:t>
            </a:r>
            <a:br/>
            <a:r>
              <a:rPr sz="1100">
                <a:latin typeface="Calibri"/>
              </a:rPr>
              <a:t>HẬU QUẢ thực tế:</a:t>
            </a:r>
            <a:br/>
            <a:r>
              <a:rPr sz="1100">
                <a:latin typeface="Calibri"/>
              </a:rPr>
              <a:t>Sinh viên ra trường thiếu kỹ năng thực chiến, doanh nghiệp bắt buộc phải tái đào tạo từ đầu. Xảy ra nghịch lý thất nghiệp mặc dù thị trường thiếu nhân lực.</a:t>
            </a:r>
            <a:br/>
            <a:r>
              <a:rPr sz="1100">
                <a:latin typeface="Calibri"/>
              </a:rPr>
              <a:t>--- UIT - ĐHQG-HCM SLIDE 11 ---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[07. THỜI ĐẠI CHUYỂN ĐỔI SỐ]</a:t>
            </a:r>
            <a:br/>
            <a:r>
              <a:rPr sz="1100">
                <a:latin typeface="Calibri"/>
              </a:rPr>
              <a:t>ĐÒN BẨY KHỔNG LỒ CHO NGƯỜI LÀM IT</a:t>
            </a:r>
            <a:br/>
            <a:r>
              <a:rPr sz="1100">
                <a:latin typeface="Calibri"/>
              </a:rPr>
              <a:t>- Đem lại mức thu nhập cực kỳ xứng đáng và cơ hội thăng tiến toàn cầu.</a:t>
            </a:r>
            <a:br/>
            <a:r>
              <a:rPr sz="1100">
                <a:latin typeface="Calibri"/>
              </a:rPr>
              <a:t>- Tạo ra tác động xã hội to lớn: Code bạn viết ra có thể trực tiếp làm thay đổi cuộc sống của hàng triệu con người.</a:t>
            </a:r>
            <a:br/>
            <a:r>
              <a:rPr sz="1100">
                <a:latin typeface="Calibri"/>
              </a:rPr>
              <a:t>Các trụ cột thúc đẩy chuyển đổi số:</a:t>
            </a:r>
            <a:br/>
            <a:r>
              <a:rPr sz="1100">
                <a:latin typeface="Calibri"/>
              </a:rPr>
              <a:t>Tác động lớn nhất:</a:t>
            </a:r>
            <a:br/>
            <a:r>
              <a:rPr sz="1100">
                <a:latin typeface="Calibri"/>
              </a:rPr>
              <a:t>--- UIT - ĐHQG-HCM SLIDE 12 ---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[08. AI: THÁCH THỨC HAY CƠ HỘI?]</a:t>
            </a:r>
            <a:br/>
            <a:r>
              <a:rPr sz="1100">
                <a:latin typeface="Calibri"/>
              </a:rPr>
              <a:t>AI: TRỢ LÝ ĐẮC LỰC HAY ĐỐI THỦ ĐÁNG GỒM?</a:t>
            </a:r>
            <a:br/>
            <a:r>
              <a:rPr sz="1100">
                <a:latin typeface="Calibri"/>
              </a:rPr>
              <a:t>- "AI không thay thế lập trình viên giỏi. AI thay thế lập trình viên KHÔNG biết dùng AI."</a:t>
            </a:r>
            <a:br/>
            <a:r>
              <a:rPr sz="1100">
                <a:latin typeface="Calibri"/>
              </a:rPr>
              <a:t>⚠️ THÁCH THỨC:</a:t>
            </a:r>
            <a:br/>
            <a:r>
              <a:rPr sz="1100">
                <a:latin typeface="Calibri"/>
              </a:rPr>
              <a:t>Học sinh, sinh viên lạm dụng AI làm thui chột khả năng tự suy luận sâu. Các công việc lập trình đơn giản (Coder sơ cấp) dần bị AI thay thế.</a:t>
            </a:r>
            <a:br/>
            <a:r>
              <a:rPr sz="1100">
                <a:latin typeface="Calibri"/>
              </a:rPr>
              <a:t>🚀 CƠ HỘI VÀNG:</a:t>
            </a:r>
            <a:br/>
            <a:r>
              <a:rPr sz="1100">
                <a:latin typeface="Calibri"/>
              </a:rPr>
              <a:t>Công cụ Copilot/AI giúp tăng tốc độ viết code, boilerplate và tạo test gấp 3 lần. Giúp sinh viên vùng sâu tiếp cận bình đẳng với tri thức công nghệ hàng đầu thế giới.</a:t>
            </a:r>
            <a:br/>
            <a:r>
              <a:rPr sz="1100">
                <a:latin typeface="Calibri"/>
              </a:rPr>
              <a:t>--- UIT - ĐHQG-HCM SLIDE 13 ---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[08. CƠ HỘI CỦA AI]</a:t>
            </a:r>
            <a:br/>
            <a:r>
              <a:rPr sz="1100">
                <a:latin typeface="Calibri"/>
              </a:rPr>
              <a:t>AI GIÚP HỌC TẬP &amp; MỞ RA NGHỀ MỚI</a:t>
            </a:r>
            <a:br/>
            <a:r>
              <a:rPr sz="1100">
                <a:latin typeface="Calibri"/>
              </a:rPr>
              <a:t>- Giải thích chi tiết các thuật toán cấu trúc dữ liệu phức tạp theo ngôn từ dễ hiểu nhất.</a:t>
            </a:r>
            <a:br/>
            <a:r>
              <a:rPr sz="1100">
                <a:latin typeface="Calibri"/>
              </a:rPr>
              <a:t>- Tự động phát hiện lỗi biên dịch (Syntax Error), giải thích và debug cực nhanh.</a:t>
            </a:r>
            <a:br/>
            <a:r>
              <a:rPr sz="1100">
                <a:latin typeface="Calibri"/>
              </a:rPr>
              <a:t>Gia sư lập trình 24/7:</a:t>
            </a:r>
            <a:br/>
            <a:r>
              <a:rPr sz="1100">
                <a:latin typeface="Calibri"/>
              </a:rPr>
              <a:t>Ngành nghề AI đầy triển vọng:</a:t>
            </a:r>
            <a:br/>
            <a:r>
              <a:rPr sz="1100">
                <a:latin typeface="Calibri"/>
              </a:rPr>
              <a:t>--- UIT - ĐHQG-HCM SLIDE 14 ---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[08. CƠ HỘI CỦA AI]</a:t>
            </a:r>
            <a:br/>
            <a:r>
              <a:rPr sz="1100">
                <a:latin typeface="Calibri"/>
              </a:rPr>
              <a:t>CÔNG THỨC LÀM CHỦ THỜI ĐẠI AI</a:t>
            </a:r>
            <a:br/>
            <a:r>
              <a:rPr sz="1100">
                <a:latin typeface="Calibri"/>
              </a:rPr>
              <a:t>- Tư duy phản biện (Critical Thinking) để đánh giá tính xác thực của thông tin AI cung cấp.</a:t>
            </a:r>
            <a:br/>
            <a:r>
              <a:rPr sz="1100">
                <a:latin typeface="Calibri"/>
              </a:rPr>
              <a:t>- Khả năng đồng cảm &amp; thấu hiểu khách hàng mà các dòng mã AI không bao giờ thay thế được.</a:t>
            </a:r>
            <a:br/>
            <a:r>
              <a:rPr sz="1100">
                <a:latin typeface="Calibri"/>
              </a:rPr>
              <a:t>- Tư duy hệ thống lớn, thích nghi nhanh với công nghệ mới.</a:t>
            </a:r>
            <a:br/>
            <a:r>
              <a:rPr sz="1100">
                <a:latin typeface="Calibri"/>
              </a:rPr>
              <a:t>TƯ DUY ĐÚNG + CÔNG CỤ ĐÚNG = GIÁ TRỊ KHỔNG LỒ</a:t>
            </a:r>
            <a:br/>
            <a:r>
              <a:rPr sz="1100">
                <a:latin typeface="Calibri"/>
              </a:rPr>
              <a:t>Kỹ năng mềm quyết định sự khác biệt:</a:t>
            </a:r>
            <a:br/>
            <a:r>
              <a:rPr sz="1100">
                <a:latin typeface="Calibri"/>
              </a:rPr>
              <a:t>--- UIT - ĐHQG-HCM SLIDE 15 ---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[09. KHÓ KHĂN THƯỜNG GẶP]</a:t>
            </a:r>
            <a:br/>
            <a:r>
              <a:rPr sz="1100">
                <a:latin typeface="Calibri"/>
              </a:rPr>
              <a:t>THỬ THÁCH NGHỀ NGHIỆP (PHẦN 1)</a:t>
            </a:r>
            <a:br/>
            <a:r>
              <a:rPr sz="1100">
                <a:latin typeface="Calibri"/>
              </a:rPr>
              <a:t>1. Khối lượng tri thức khổng lồ &amp; Quá tải thông tin</a:t>
            </a:r>
            <a:br/>
            <a:r>
              <a:rPr sz="1100">
                <a:latin typeface="Calibri"/>
              </a:rPr>
              <a:t>Công nghệ thay đổi chóng mặt từng ngày, dễ dẫn đến cảm giác kiệt sức (burnout).</a:t>
            </a:r>
            <a:br/>
            <a:r>
              <a:rPr sz="1100">
                <a:latin typeface="Calibri"/>
              </a:rPr>
              <a:t>2. Chuyển đổi tư duy máy tính</a:t>
            </a:r>
            <a:br/>
            <a:r>
              <a:rPr sz="1100">
                <a:latin typeface="Calibri"/>
              </a:rPr>
              <a:t>Khó khăn ban đầu khi học cách suy nghĩ logic như máy tính, hiểu thuật toán sâu xa.</a:t>
            </a:r>
            <a:br/>
            <a:r>
              <a:rPr sz="1100">
                <a:latin typeface="Calibri"/>
              </a:rPr>
              <a:t>3. Giáo trình nặng toán lý thuyết</a:t>
            </a:r>
            <a:br/>
            <a:r>
              <a:rPr sz="1100">
                <a:latin typeface="Calibri"/>
              </a:rPr>
              <a:t>Thiếu cơ hội cọ xát với các dự án thực tế quy mô lớn của doanh nghiệp trong giai đoạn đầu.</a:t>
            </a:r>
            <a:br/>
            <a:r>
              <a:rPr sz="1100">
                <a:latin typeface="Calibri"/>
              </a:rPr>
              <a:t>--- UIT - ĐHQG-HCM SLIDE 16 ---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[09. KHÓ KHĂN THƯỜNG GẶP]</a:t>
            </a:r>
            <a:br/>
            <a:r>
              <a:rPr sz="1100">
                <a:latin typeface="Calibri"/>
              </a:rPr>
              <a:t>ÁP LỰC DEADLINE &amp; TÂM LÝ KẺ GIẢ MẠO</a:t>
            </a:r>
            <a:br/>
            <a:r>
              <a:rPr sz="1100">
                <a:latin typeface="Calibri"/>
              </a:rPr>
              <a:t>4. Áp lực thời gian &amp; Đạt chuẩn chất lượng</a:t>
            </a:r>
            <a:br/>
            <a:r>
              <a:rPr sz="1100">
                <a:latin typeface="Calibri"/>
              </a:rPr>
              <a:t>Code chạy được và code tốt là hai bài toán hoàn toàn khác nhau. Áp lực mất ngủ vì bug.</a:t>
            </a:r>
            <a:br/>
            <a:r>
              <a:rPr sz="1100">
                <a:latin typeface="Calibri"/>
              </a:rPr>
              <a:t>5. Hội chứng kẻ giả mạo (Imposter Syndrome)</a:t>
            </a:r>
            <a:br/>
            <a:r>
              <a:rPr sz="1100">
                <a:latin typeface="Calibri"/>
              </a:rPr>
              <a:t>Dễ rơi vào tâm lý tự ti so sánh bản thân với "siêu nhân" công nghệ trên GitHub hay LinkedIn.</a:t>
            </a:r>
            <a:br/>
            <a:r>
              <a:rPr sz="1100">
                <a:latin typeface="Calibri"/>
              </a:rPr>
              <a:t>6. Chi phí thiết bị chuyên nghiệp</a:t>
            </a:r>
            <a:br/>
            <a:r>
              <a:rPr sz="1100">
                <a:latin typeface="Calibri"/>
              </a:rPr>
              <a:t>Đòi hỏi thiết bị có cấu hình đủ mạnh để huấn luyện AI hoặc phát triển đa nền tảng.</a:t>
            </a:r>
            <a:br/>
            <a:r>
              <a:rPr sz="1100">
                <a:latin typeface="Calibri"/>
              </a:rPr>
              <a:t>--- UIT - ĐHQG-HCM SLIDE 17 ---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[09. KHÓ KHĂN THỰC TẾ]</a:t>
            </a:r>
            <a:br/>
            <a:r>
              <a:rPr sz="1100">
                <a:latin typeface="Calibri"/>
              </a:rPr>
              <a:t>AI CÓ THỰC SỰ LÀ MỘT KHÓ KHĂN?</a:t>
            </a:r>
            <a:br/>
            <a:r>
              <a:rPr sz="1100">
                <a:latin typeface="Calibri"/>
              </a:rPr>
              <a:t>- Sinh viên lười suy nghĩ độc lập vì thói quen phó mặc toàn bộ cho AI tạo code hộ.</a:t>
            </a:r>
            <a:br/>
            <a:r>
              <a:rPr sz="1100">
                <a:latin typeface="Calibri"/>
              </a:rPr>
              <a:t>- Mất đi năng lực xử lý tận gốc vấn đề khi thiếu vắng kết nối Internet/AI.</a:t>
            </a:r>
            <a:br/>
            <a:r>
              <a:rPr sz="1100">
                <a:latin typeface="Calibri"/>
              </a:rPr>
              <a:t>- Gặp lỗi "ảo giác hệ thống" (Hallucination) do không có khả năng kiểm định độ tin cậy của AI.</a:t>
            </a:r>
            <a:br/>
            <a:r>
              <a:rPr sz="1100">
                <a:latin typeface="Calibri"/>
              </a:rPr>
              <a:t>Những nguy cơ tiềm tàng:</a:t>
            </a:r>
            <a:br/>
            <a:r>
              <a:rPr sz="1100">
                <a:latin typeface="Calibri"/>
              </a:rPr>
              <a:t>QUY TẮC VÀNG: Dùng AI để tăng tốc độ thực thi, không dùng AI thay thế cho não bộ.</a:t>
            </a:r>
            <a:br/>
            <a:r>
              <a:rPr sz="1100">
                <a:latin typeface="Calibri"/>
              </a:rPr>
              <a:t>--- UIT - ĐHQG-HCM SLIDE 18 ---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[10. HƯỚNG ĐI PHÙ HỢP]</a:t>
            </a:r>
            <a:br/>
            <a:r>
              <a:rPr sz="1100">
                <a:latin typeface="Calibri"/>
              </a:rPr>
              <a:t>XÂY DỰNG MÔ HÌNH NĂNG LỰC CHỮ T (T-SHAPED)</a:t>
            </a:r>
            <a:br/>
            <a:r>
              <a:rPr sz="1100">
                <a:latin typeface="Calibri"/>
              </a:rPr>
              <a:t>🧱 NỀN TẢNG RỘNG (Broad Base):</a:t>
            </a:r>
            <a:br/>
            <a:r>
              <a:rPr sz="1100">
                <a:latin typeface="Calibri"/>
              </a:rPr>
              <a:t>Toán học rời rạc, Cấu trúc dữ liệu &amp; Giải thuật, Kiến trúc hệ điều hành, Hệ cơ sở dữ liệu.</a:t>
            </a:r>
            <a:br/>
            <a:r>
              <a:rPr sz="1100">
                <a:latin typeface="Calibri"/>
              </a:rPr>
              <a:t>⚡ CHUYÊN SÂU HẸP (Deep Expertise):</a:t>
            </a:r>
            <a:br/>
            <a:r>
              <a:rPr sz="1100">
                <a:latin typeface="Calibri"/>
              </a:rPr>
              <a:t>Lựa chọn một mũi nhọn để đi sâu: Phát triển Web/Mobile, AI Engineer, MLOps, Cybersecurity.</a:t>
            </a:r>
            <a:br/>
            <a:r>
              <a:rPr sz="1100">
                <a:latin typeface="Calibri"/>
              </a:rPr>
              <a:t>🗣️ KỸ NĂNG BỔ TRỢ:</a:t>
            </a:r>
            <a:br/>
            <a:r>
              <a:rPr sz="1100">
                <a:latin typeface="Calibri"/>
              </a:rPr>
              <a:t>Ngoại ngữ (Tiếng Anh là bắt buộc), Kỹ năng teamwork, Kỹ năng tự học thông tin học thuật.</a:t>
            </a:r>
            <a:br/>
            <a:r>
              <a:rPr sz="1100">
                <a:latin typeface="Calibri"/>
              </a:rPr>
              <a:t>--- UIT - ĐHQG-HCM SLIDE 19 ---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[10. HƯỚNG ĐI PHÙ HỢP]</a:t>
            </a:r>
            <a:br/>
            <a:r>
              <a:rPr sz="1100">
                <a:latin typeface="Calibri"/>
              </a:rPr>
              <a:t>LỘ TRÌNH 4 NĂM ĐẠI HỌC THỰC CHIẾN</a:t>
            </a:r>
            <a:br/>
            <a:r>
              <a:rPr sz="1100">
                <a:latin typeface="Calibri"/>
              </a:rPr>
              <a:t>NĂM 1–2: XÂY DỰNG KHUNG MÓNG VỮNG CHẮC</a:t>
            </a:r>
            <a:br/>
            <a:r>
              <a:rPr sz="1100">
                <a:latin typeface="Calibri"/>
              </a:rPr>
              <a:t>Học chắc các môn cơ sở ngành, rèn luyện tư duy lập trình căn bản. Thực hành viết code tối thiểu 2-3 giờ mỗi ngày. Tích cực tham gia các câu lạc bộ lập trình, cuộc thi Hackathon.</a:t>
            </a:r>
            <a:br/>
            <a:r>
              <a:rPr sz="1100">
                <a:latin typeface="Calibri"/>
              </a:rPr>
              <a:t>NĂM 3: CHỌN MŨI NHỌN CHUYÊN SÂU &amp; THỰC TẬP</a:t>
            </a:r>
            <a:br/>
            <a:r>
              <a:rPr sz="1100">
                <a:latin typeface="Calibri"/>
              </a:rPr>
              <a:t>Xác định hướng đi chuyên sâu (Web, AI, Cloud...). Bắt tay thực hiện các dự án cá nhân thực tế (Personal Projects), đóng góp mã nguồn mở, tìm cơ hội thực tập sớm (Internship).</a:t>
            </a:r>
            <a:br/>
            <a:r>
              <a:rPr sz="1100">
                <a:latin typeface="Calibri"/>
              </a:rPr>
              <a:t>NĂM 4: CHUẨN BỊ BƯỚC VÀO THỊ TRƯỜNG LAO ĐỘNG</a:t>
            </a:r>
            <a:br/>
            <a:r>
              <a:rPr sz="1100">
                <a:latin typeface="Calibri"/>
              </a:rPr>
              <a:t>Hoàn thiện hồ sơ năng lực cá nhân (GitHub Portfolio), chủ động tìm hiểu thị trường tuyển dụng. Luyện tập giải thuật, thiết kế kiến trúc hệ thống để sẵn sàng phỏng vấn.</a:t>
            </a:r>
            <a:br/>
            <a:r>
              <a:rPr sz="1100">
                <a:latin typeface="Calibri"/>
              </a:rPr>
              <a:t>--- UIT - ĐHQG-HCM SLIDE 20 ---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[11. ĐỊNH HƯỚNG SAU TỐT NGHIỆP]</a:t>
            </a:r>
            <a:br/>
            <a:r>
              <a:rPr sz="1100">
                <a:latin typeface="Calibri"/>
              </a:rPr>
              <a:t>4 LỰA CHỌN PHÁT TRIỂN SỰ NGHIỆP LỚN</a:t>
            </a:r>
            <a:br/>
            <a:r>
              <a:rPr sz="1100">
                <a:latin typeface="Calibri"/>
              </a:rPr>
              <a:t>1. ĐI LÀM NGAY (Fresher/Junior)</a:t>
            </a:r>
            <a:br/>
            <a:r>
              <a:rPr sz="1100">
                <a:latin typeface="Calibri"/>
              </a:rPr>
              <a:t>Gia nhập công ty công nghệ để có thu nhập, cọ xát thực tế sớm. Đích đến trở thành Senior sau 3-5 năm.</a:t>
            </a:r>
            <a:br/>
            <a:r>
              <a:rPr sz="1100">
                <a:latin typeface="Calibri"/>
              </a:rPr>
              <a:t>2. HỌC LÊN CAO (Master/PhD)</a:t>
            </a:r>
            <a:br/>
            <a:r>
              <a:rPr sz="1100">
                <a:latin typeface="Calibri"/>
              </a:rPr>
              <a:t>Đi sâu vào nghiên cứu khoa học cốt lõi. Cực kỳ phù hợp với các nhánh AI, Data Science, Cryptography.</a:t>
            </a:r>
            <a:br/>
            <a:r>
              <a:rPr sz="1100">
                <a:latin typeface="Calibri"/>
              </a:rPr>
              <a:t>3. KHỞI NGHIỆP (Startup)</a:t>
            </a:r>
            <a:br/>
            <a:r>
              <a:rPr sz="1100">
                <a:latin typeface="Calibri"/>
              </a:rPr>
              <a:t>Tự do kiến tạo sản phẩm riêng, tiềm năng kinh tế khổng lồ. Tuy nhiên đòi hỏi kỹ năng vận hành và rủi ro lớn.</a:t>
            </a:r>
            <a:br/>
            <a:r>
              <a:rPr sz="1100">
                <a:latin typeface="Calibri"/>
              </a:rPr>
              <a:t>4. FREELANCE / REMOTE GLOBAL</a:t>
            </a:r>
            <a:br/>
            <a:r>
              <a:rPr sz="1100">
                <a:latin typeface="Calibri"/>
              </a:rPr>
              <a:t>Tự do về thời gian, làm việc xuyên biên giới. Đòi hỏi tinh thần kỷ luật tự giác thép và khả năng quản lý tài chính.</a:t>
            </a:r>
            <a:br/>
            <a:r>
              <a:rPr sz="1100">
                <a:latin typeface="Calibri"/>
              </a:rPr>
              <a:t>--- UIT - ĐHQG-HCM SLIDE 21 ---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[11. ĐỊNH HƯỚNG SỰ NGHIỆP]</a:t>
            </a:r>
            <a:br/>
            <a:r>
              <a:rPr sz="1100">
                <a:latin typeface="Calibri"/>
              </a:rPr>
              <a:t>LỘ TRÌNH TIẾN THÂN CỦA KỸ SƯ PHẦN MỀM</a:t>
            </a:r>
            <a:br/>
            <a:r>
              <a:rPr sz="1100">
                <a:latin typeface="Calibri"/>
              </a:rPr>
              <a:t>CẤP 1: INTERN</a:t>
            </a:r>
            <a:br/>
            <a:r>
              <a:rPr sz="1100">
                <a:latin typeface="Calibri"/>
              </a:rPr>
              <a:t>Thời gian 6-12 tháng. Tập trung học hỏi quy trình công nghiệp thực tế, làm quen văn hóa tổ chức và xây dựng các mối quan hệ ban đầu.</a:t>
            </a:r>
            <a:br/>
            <a:r>
              <a:rPr sz="1100">
                <a:latin typeface="Calibri"/>
              </a:rPr>
              <a:t>CẤP 2: FRESHER</a:t>
            </a:r>
            <a:br/>
            <a:r>
              <a:rPr sz="1100">
                <a:latin typeface="Calibri"/>
              </a:rPr>
              <a:t>Thời gian 0-1 năm. Rèn luyện thích nghi, làm chủ kỹ năng cơ bản của dự án và đóng góp giải quyết các module nhỏ được giao.</a:t>
            </a:r>
            <a:br/>
            <a:r>
              <a:rPr sz="1100">
                <a:latin typeface="Calibri"/>
              </a:rPr>
              <a:t>CẤP 3: JUNIOR</a:t>
            </a:r>
            <a:br/>
            <a:r>
              <a:rPr sz="1100">
                <a:latin typeface="Calibri"/>
              </a:rPr>
              <a:t>Thời gian 1-3 năm. Có khả năng tự phát triển tính năng độc lập, cải thiện chất lượng code và bắt đầu phối hợp nhóm hiệu quả.</a:t>
            </a:r>
            <a:br/>
            <a:r>
              <a:rPr sz="1100">
                <a:latin typeface="Calibri"/>
              </a:rPr>
              <a:t>CẤP 4: SENIOR</a:t>
            </a:r>
            <a:br/>
            <a:r>
              <a:rPr sz="1100">
                <a:latin typeface="Calibri"/>
              </a:rPr>
              <a:t>Thời gian 3-5 năm. Dẫn dắt kỹ thuật các dự án nhỏ, có vai trò hướng dẫn (Mentoring) Junior và chịu trách nhiệm trực tiếp về chất lượng đầu ra.</a:t>
            </a:r>
            <a:br/>
            <a:r>
              <a:rPr sz="1100">
                <a:latin typeface="Calibri"/>
              </a:rPr>
              <a:t>--- UIT - ĐHQG-HCM SLIDE 22 ---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[11. ĐỊNH HƯỚNG LÊN CẤP CAO]</a:t>
            </a:r>
            <a:br/>
            <a:r>
              <a:rPr sz="1100">
                <a:latin typeface="Calibri"/>
              </a:rPr>
              <a:t>CẤP QUẢN TRỊ &amp; MŨI NHỌN CÔNG NGHỆ</a:t>
            </a:r>
            <a:br/>
            <a:r>
              <a:rPr sz="1100">
                <a:latin typeface="Calibri"/>
              </a:rPr>
              <a:t>- "Tương lai là do bạn kiến tạo. Đam mê + Kiên trì + Khác biệt = THÀNH CÔNG!"</a:t>
            </a:r>
            <a:br/>
            <a:r>
              <a:rPr sz="1100">
                <a:latin typeface="Calibri"/>
              </a:rPr>
              <a:t>⚡ TECHNICAL LEAD (5–8 Năm):</a:t>
            </a:r>
            <a:br/>
            <a:r>
              <a:rPr sz="1100">
                <a:latin typeface="Calibri"/>
              </a:rPr>
              <a:t>Kiến trúc sư giải pháp phần mềm hệ thống lớn, thẩm định công nghệ, quyết định Technology Stack kỹ thuật cho toàn tổ chức.</a:t>
            </a:r>
            <a:br/>
            <a:r>
              <a:rPr sz="1100">
                <a:latin typeface="Calibri"/>
              </a:rPr>
              <a:t>💼 MANAGEMENT (8+ Năm):</a:t>
            </a:r>
            <a:br/>
            <a:r>
              <a:rPr sz="1100">
                <a:latin typeface="Calibri"/>
              </a:rPr>
              <a:t>Thiết lập định hướng chiến lược doanh nghiệp, tuyển dụng và phát triển con người, chịu trách nhiệm tăng trưởng doanh thu.</a:t>
            </a:r>
            <a:br/>
            <a:r>
              <a:rPr sz="1100">
                <a:latin typeface="Calibri"/>
              </a:rPr>
              <a:t>--- UIT - ĐHQG-HCM SLIDE 23 ---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[12. KẾT LUẬN]</a:t>
            </a:r>
            <a:br/>
            <a:r>
              <a:rPr sz="1100">
                <a:latin typeface="Calibri"/>
              </a:rPr>
              <a:t>KẾT LUẬN &amp; THÔNG ĐIỆP TỔNG KẾT</a:t>
            </a:r>
            <a:br/>
            <a:r>
              <a:rPr sz="1100">
                <a:latin typeface="Calibri"/>
              </a:rPr>
              <a:t>- CNTT là động cơ cốt lõi: Không chỉ dừng lại ở công cụ học tập mà là đòn bẩy buộc phải có để phát triển mọi ngành kinh tế.</a:t>
            </a:r>
            <a:br/>
            <a:r>
              <a:rPr sz="1100">
                <a:latin typeface="Calibri"/>
              </a:rPr>
              <a:t>- Cơ hội việc làm luôn rộng mở: Nhu cầu thị trường liên tục vượt cung, mức đãi ngộ hấp dẫn bậc nhất.</a:t>
            </a:r>
            <a:br/>
            <a:r>
              <a:rPr sz="1100">
                <a:latin typeface="Calibri"/>
              </a:rPr>
              <a:t>- Chuyển đổi số là thời cơ vàng: Giúp kỹ sư IT có khả năng tác động xã hội lớn chưa từng có.</a:t>
            </a:r>
            <a:br/>
            <a:r>
              <a:rPr sz="1100">
                <a:latin typeface="Calibri"/>
              </a:rPr>
              <a:t>- AI là bạn đồng hành: Người biết làm chủ và ứng dụng AI sẽ thay thế người không biết dùng AI.</a:t>
            </a:r>
            <a:br/>
            <a:r>
              <a:rPr sz="1100">
                <a:latin typeface="Calibri"/>
              </a:rPr>
              <a:t>- Khó khăn là động lực phát triển: Bug, deadline là chất xúc tác rèn giũa bản lĩnh lập trình viên.</a:t>
            </a:r>
            <a:br/>
            <a:r>
              <a:rPr sz="1100">
                <a:latin typeface="Calibri"/>
              </a:rPr>
              <a:t>- Chiến lược rõ ràng: Nền tảng rộng chắc + Mũi nhọn chuyên sâu + Học tập liên tục = Chìa khóa vàng thành công.</a:t>
            </a:r>
            <a:br/>
            <a:r>
              <a:rPr sz="1100">
                <a:latin typeface="Calibri"/>
              </a:rPr>
              <a:t>--- UIT - ĐHQG-HCM SLIDE 24 ---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[Lời cảm ơn]</a:t>
            </a:r>
            <a:br/>
            <a:r>
              <a:rPr sz="1100">
                <a:latin typeface="Calibri"/>
              </a:rPr>
              <a:t>XIN CHÂN THÀNH CẢM ƠN!</a:t>
            </a:r>
            <a:br/>
            <a:r>
              <a:rPr sz="1100">
                <a:latin typeface="Calibri"/>
              </a:rPr>
              <a:t>Nhóm xin bày tỏ lòng cảm ơn chân thành tới Th.S. Nguyễn Thị Thuỳ Trâm đã tận tình hướng dẫn, chỉ bảo nhóm hoàn thành bài báo cáo tiểu luận này.</a:t>
            </a:r>
            <a:br/>
            <a:r>
              <a:rPr sz="1100">
                <a:latin typeface="Calibri"/>
              </a:rPr>
              <a:t>"Tự học hôm nay – Kiến tạo tương lai. Làm nghề bằng cả trái tim thì code nào cũng chất!"</a:t>
            </a:r>
            <a:br/>
            <a:r>
              <a:rPr sz="1100">
                <a:latin typeface="Calibri"/>
              </a:rPr>
              <a:t>--- UIT - ĐHQG-HCM SLIDE 25 ---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